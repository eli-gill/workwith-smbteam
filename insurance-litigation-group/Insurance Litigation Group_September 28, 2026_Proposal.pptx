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INSURANCE LITIGATION GROUP</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Insurance Litigation Group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Poppins"/>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Invisible in search</a:t>
            </a:r>
          </a:p>
        </p:txBody>
      </p:sp>
      <p:sp>
        <p:nvSpPr>
          <p:cNvPr id="14" name="Rectangle 13"/>
          <p:cNvSpPr/>
          <p:nvPr/>
        </p:nvSpPr>
        <p:spPr>
          <a:xfrm>
            <a:off x="2542032"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Dropped calls hurt LSA</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Poppins"/>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One-person marketing</a:t>
            </a:r>
          </a:p>
        </p:txBody>
      </p:sp>
      <p:sp>
        <p:nvSpPr>
          <p:cNvPr id="24" name="Rectangle 23"/>
          <p:cNvSpPr/>
          <p:nvPr/>
        </p:nvSpPr>
        <p:spPr>
          <a:xfrm>
            <a:off x="4261104"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No profit visibility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Dropped calls are hurting Local Service Ads performance now</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5% Immigration close rate means ~1,000 leads/mo needed</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Firm didn't surface in any of 6 competitive searches run</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Immigration already tracks real leads, CPL, and close rate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Cernitz Law</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Far more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surfaced 2/3 searches</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Revilla Law Firm, P.A.</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Far more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8x ILG's footprint</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Panter, Panter &amp; Sampedro</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Far more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strong organic reach</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Insurance Litigation Group</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Fewer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INSURANCE LITIGATION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70 Signed Clients/Month</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All four pillars — marketing, intake, team, and profit — have to work together, or growth stalls no matter how much you spend on ads. When all four work, Insurance Litigation Group becomes the name every prospect in Miami already looks for.</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50 + 20 -&gt; 70 clients/mo</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The dominant name every prospect finds first</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Consolidate ilgpa.com and restorationlaw.com</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Fix Avvo miscategorization and directory listings</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Launch local SEO to close the visibility gap</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Scale PPC, LSA, and Meta for both practice areas</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Turn ad spend into a pipeline that runs without you</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Stop dropped calls from killing LSA performance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Build a defined intake workflow with fast follow-up</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Add after-hours coverage so no lead goes cold</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Raise Immigration's close rate above 5%</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Convert leads you already paid for — not new ones</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Add Fractional COO Director-level leadership</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Build financial visibility beyond Immigration's numbers</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Compare First-Party Property vs. Immigration economics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Move marketing off Fred G.'s desk for good</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Turn growth into profit you can actually measure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INSURANCE LITIGATION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91C9"/>
                </a:solidFill>
                <a:latin typeface="Poppins"/>
              </a:rPr>
              <a:t>FULL SERVICE MARKETING — PLATINUM</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$15,997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$18,997/mo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Website · SEO · LSA · Google PPC · Social — 6 offices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003A59"/>
                </a:solidFill>
                <a:latin typeface="Poppins"/>
              </a:rPr>
              <a:t>MASTER'S CIRCLE + FCOO DIRECTOR</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03A59"/>
                </a:solidFill>
                <a:latin typeface="Poppins"/>
              </a:rPr>
              <a:t>$8,394</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Poppins"/>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Poppins"/>
              </a:rPr>
              <a:t>$10,794/mo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Poppins"/>
              </a:rPr>
              <a:t>Group coaching · masterminds · Fractional COO Director</a:t>
            </a:r>
          </a:p>
        </p:txBody>
      </p:sp>
      <p:sp>
        <p:nvSpPr>
          <p:cNvPr id="21" name="Rectangle 20"/>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$24,391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Save $5,400/mo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 Recommended ad spend: $23,900–$132,800/mo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$4,500–$6,500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(10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$55,000 revenue · 2.3×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(70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$355,000 revenue · 2.7×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37" name="Rectangle 36"/>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Launch scaled PPC, LSA, and Meta campaigns</a:t>
            </a:r>
          </a:p>
        </p:txBody>
      </p:sp>
      <p:sp>
        <p:nvSpPr>
          <p:cNvPr id="40" name="Rectangle 39"/>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Complete PageSpeed, GBP, and directory audits</a:t>
            </a:r>
          </a:p>
        </p:txBody>
      </p:sp>
      <p:sp>
        <p:nvSpPr>
          <p:cNvPr id="43" name="Rectangle 42"/>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Kick off Master's Circle coaching and FCOO Director</a:t>
            </a:r>
          </a:p>
        </p:txBody>
      </p:sp>
      <p:sp>
        <p:nvSpPr>
          <p:cNvPr id="46" name="Rectangle 45"/>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Stand up new intake workflow to stop dropped calls</a:t>
            </a:r>
          </a:p>
        </p:txBody>
      </p:sp>
      <p:sp>
        <p:nvSpPr>
          <p:cNvPr id="49" name="Rectangle 48"/>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Launch review-generation program tied to closings</a:t>
            </a:r>
          </a:p>
        </p:txBody>
      </p:sp>
      <p:sp>
        <p:nvSpPr>
          <p:cNvPr id="52" name="Rectangle 51"/>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"We already have the leads and the budget — I just want every one of them to turn into a signed client instead of a missed call."</a:t>
            </a:r>
          </a:p>
        </p:txBody>
      </p:sp>
      <p:sp>
        <p:nvSpPr>
          <p:cNvPr id="54" name="Rectangle 53"/>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Jacob Meissner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