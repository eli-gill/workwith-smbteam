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C400"/>
                </a:solidFill>
              </a:rPr>
              <a:t>LAW FIRM GROWTH AUDIT  ·  BLANCARTE LAW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Where Blancarte Law Stands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 / 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</a:rPr>
              <a:t>COMPETITIVE URGENCY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 w="9525">
            <a:solidFill>
              <a:srgbClr val="253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Lead Generation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392B"/>
                </a:solidFill>
              </a:rPr>
              <a:t>CRITICAL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DD0"/>
                </a:solidFill>
              </a:rPr>
              <a:t>100% from 1 referral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 w="9525">
            <a:solidFill>
              <a:srgbClr val="253D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Intake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AMBER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DD0"/>
                </a:solidFill>
              </a:rPr>
              <a:t>Leads falling through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 w="9525">
            <a:solidFill>
              <a:srgbClr val="253D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Team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AMBER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DD0"/>
                </a:solidFill>
              </a:rPr>
              <a:t>No KPIs / bottleneck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 w="9525">
            <a:solidFill>
              <a:srgbClr val="253D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Profit Plan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AMBER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DD0"/>
                </a:solidFill>
              </a:rPr>
              <a:t>No forecasting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400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 w="9525">
            <a:solidFill>
              <a:srgbClr val="5C2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386584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BABA"/>
                </a:solidFill>
              </a:rPr>
              <a:t>Zero reviews on every platform — invisible to prospects actively searching for an attorney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 w="9525">
            <a:solidFill>
              <a:srgbClr val="5C2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00837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BABA"/>
                </a:solidFill>
              </a:rPr>
              <a:t>Website is a blank business card — no content, no SEO, no way for visitors to become leads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 w="9525">
            <a:solidFill>
              <a:srgbClr val="5C2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630168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61188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BABA"/>
                </a:solidFill>
              </a:rPr>
              <a:t>Nearest competitor (Goldstein, 4 blocks away) has 585 reviews &amp; PPC that doubled their intake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 w="9525">
            <a:solidFill>
              <a:srgbClr val="1A4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25196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Strong foundation: $1M revenue, capable team with Patricia &amp; paralegals, new website in development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57800" y="0"/>
            <a:ext cx="3886200" cy="48234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0" descr="/home/claude/imgs/stair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109728"/>
            <a:ext cx="3749040" cy="2112264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5257800" y="2267712"/>
            <a:ext cx="3886200" cy="69494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57800" y="2267712"/>
            <a:ext cx="128016" cy="694944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C400"/>
                </a:solidFill>
              </a:rPr>
              <a:t>YOU ARE HERE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486400" y="24871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4: Small Business Manager  →  Goal: Stage 6, Law Firm Owner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394960" y="3063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4748B"/>
                </a:solidFill>
              </a:rPr>
              <a:t>COMPETITOR LANDSCAPE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5257800" y="3310128"/>
            <a:ext cx="388620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DDE5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13248" y="3355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Goldstein Immigration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260336" y="3355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585 reviews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193024" y="3374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4 blocks away · PPC active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5257800" y="3657600"/>
            <a:ext cx="3886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5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413248" y="3703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Manduley &amp; Camisassa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7260336" y="3703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376 reviews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8193024" y="3721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Bilingual · top organic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5257800" y="4005072"/>
            <a:ext cx="3886200" cy="310896"/>
          </a:xfrm>
          <a:prstGeom prst="rect">
            <a:avLst/>
          </a:prstGeom>
          <a:solidFill>
            <a:srgbClr val="F0F4FA"/>
          </a:solidFill>
          <a:ln w="6350">
            <a:solidFill>
              <a:srgbClr val="DDE5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13248" y="4050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Gihan L. Thomas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260336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961 reviews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8193024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#1 most-reviewed in LA</a:t>
            </a:r>
            <a:endParaRPr lang="en-US" sz="650" dirty="0"/>
          </a:p>
        </p:txBody>
      </p:sp>
      <p:sp>
        <p:nvSpPr>
          <p:cNvPr id="64" name="Shape 61"/>
          <p:cNvSpPr/>
          <p:nvPr/>
        </p:nvSpPr>
        <p:spPr>
          <a:xfrm>
            <a:off x="5257800" y="4352544"/>
            <a:ext cx="3886200" cy="310896"/>
          </a:xfrm>
          <a:prstGeom prst="rect">
            <a:avLst/>
          </a:prstGeom>
          <a:solidFill>
            <a:srgbClr val="FFF0F0"/>
          </a:solidFill>
          <a:ln w="6350">
            <a:solidFill>
              <a:srgbClr val="DDE5F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257800" y="4352544"/>
            <a:ext cx="914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13248" y="4398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Blancarte Law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260336" y="43982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0 reviews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8193024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← You are here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70" name="Image 1" descr="/home/claude/imgs/sm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Shape 67"/>
          <p:cNvSpPr/>
          <p:nvPr/>
        </p:nvSpPr>
        <p:spPr>
          <a:xfrm>
            <a:off x="1490472" y="4855464"/>
            <a:ext cx="0" cy="182880"/>
          </a:xfrm>
          <a:prstGeom prst="line">
            <a:avLst/>
          </a:prstGeom>
          <a:noFill/>
          <a:ln w="12700">
            <a:solidFill>
              <a:srgbClr val="334D6E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609344" y="48326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A9A"/>
                </a:solidFill>
              </a:rPr>
              <a:t>CONFIDENTIAL  ·  Prepared by Randy Gold | SMB Team</a:t>
            </a:r>
            <a:endParaRPr lang="en-US" sz="750" dirty="0"/>
          </a:p>
        </p:txBody>
      </p:sp>
      <p:sp>
        <p:nvSpPr>
          <p:cNvPr id="73" name="Text 69"/>
          <p:cNvSpPr/>
          <p:nvPr/>
        </p:nvSpPr>
        <p:spPr>
          <a:xfrm>
            <a:off x="8138160" y="48326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A"/>
                </a:solidFill>
              </a:rPr>
              <a:t>1 /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C400"/>
                </a:solidFill>
              </a:rPr>
              <a:t>LAW FIRM GROWTH AUDIT  ·  BLANCARTE LAW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Growth Plan: 3 Priorities to Reach $150K/Month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6" name="Image 0" descr="/home/claude/imgs/pyramid_l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24128"/>
            <a:ext cx="2487168" cy="1399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2450592"/>
            <a:ext cx="2487168" cy="1828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52374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C400"/>
                </a:solidFill>
              </a:rPr>
              <a:t>THE SMB TEAM MODEL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92608" y="2743200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FDA"/>
                </a:solidFill>
              </a:rPr>
              <a:t>All four pillars must work together. Missing any one means you can't have profit, freedom, and great client results at the same time.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" y="3456432"/>
            <a:ext cx="2487168" cy="6583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$1M  →  $1.8M revenue
</a:t>
            </a:r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</a:rPr>
              <a:t>Jesse &amp; James take real time off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0" y="131673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the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Marketing Engine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7792" y="21122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Google Ads for immigration &amp; criminal defense — live within 14 days of new website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07792" y="271576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Local Service Ads (Google Screened) — the only ad format that appears above all results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07792" y="331927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Spanish-language Meta ads targeting LA's Hispanic immigrant community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816352" y="3675888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07792" y="392277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4096" y="373075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Fix NAP directory inconsistencies — zero-cost action that lifts local SEO immediately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07792" y="452628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54096" y="43342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Automated review requests: 10–15 new Google reviews per month from existing clients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47488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47488" y="131673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Fix Intake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Stop Losing Cases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211226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Upgrade to 24/7 bilingual intake — no more missed after-hours or weekend calls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0" y="271576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Recorded call monitoring + lead-to-sign conversion rate tracking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0" y="331927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Documented qualification script so every case type is handled consistently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937760" y="3675888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0" y="392277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75504" y="373075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CRM optimized for Patricia to manage intake performance without attorney input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9200" y="452628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75504" y="43342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Just +5 percentage points in close rate = ~3 more signed cases/month, zero new spend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68896" y="1042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68896" y="131673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Install Team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Profit Systems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50608" y="2112264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KPI scorecards for every role — Patricia owns day-to-day, attorneys own strategy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50608" y="2715768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Defined coverage plan for court days so the firm never stalls when both are out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150608" y="3319272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Monthly financial dashboard: revenue by case type, cost per case, profit margin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7059168" y="3675888"/>
            <a:ext cx="204825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50608" y="3922776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296912" y="373075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Forecasting model so $150K/month is a tracked target, not a year-end surprise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50608" y="4526280"/>
            <a:ext cx="91440" cy="914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296912" y="433425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Phase 3 outcome: firm runs without daily owner input — real vacations are possible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67" name="Image 1" descr="/home/claude/imgs/sm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68" name="Shape 64"/>
          <p:cNvSpPr/>
          <p:nvPr/>
        </p:nvSpPr>
        <p:spPr>
          <a:xfrm>
            <a:off x="1490472" y="4855464"/>
            <a:ext cx="0" cy="182880"/>
          </a:xfrm>
          <a:prstGeom prst="line">
            <a:avLst/>
          </a:prstGeom>
          <a:noFill/>
          <a:ln w="12700">
            <a:solidFill>
              <a:srgbClr val="334D6E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1609344" y="48326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A9A"/>
                </a:solidFill>
              </a:rPr>
              <a:t>CONFIDENTIAL  ·  Prepared by Randy Gold | SMB Team</a:t>
            </a:r>
            <a:endParaRPr lang="en-US" sz="750" dirty="0"/>
          </a:p>
        </p:txBody>
      </p:sp>
      <p:sp>
        <p:nvSpPr>
          <p:cNvPr id="70" name="Text 66"/>
          <p:cNvSpPr/>
          <p:nvPr/>
        </p:nvSpPr>
        <p:spPr>
          <a:xfrm>
            <a:off x="8138160" y="48326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A"/>
                </a:solidFill>
              </a:rPr>
              <a:t>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C400"/>
                </a:solidFill>
              </a:rPr>
              <a:t>LAW FIRM GROWTH AUDIT  ·  BLANCARTE LAW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Investment &amp; What Happens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4133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4ED8"/>
                </a:solidFill>
              </a:rPr>
              <a:t>FULL SERVICE MARKETING — GROWTH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$3,397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$4,997/mo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22576" y="1545336"/>
            <a:ext cx="8046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Website  ·  Google Ads  ·  LSA  ·  Meta Ads  ·  GBP optimization  ·  Monthly reporting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2139696"/>
            <a:ext cx="41330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8D9"/>
                </a:solidFill>
              </a:rPr>
              <a:t>ELITE COACH PLUS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4140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</a:rPr>
              <a:t>$2,200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$3,497/mo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22576" y="2660904"/>
            <a:ext cx="8046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077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Weekly group coaching  ·  KPI scorecards  ·  Intake framework  ·  Financial review cadence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1168" y="3255264"/>
            <a:ext cx="4133088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A0C0"/>
                </a:solidFill>
              </a:rPr>
              <a:t>BUNDLE TOTAL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3511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</a:rPr>
              <a:t>$5,597 / mo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70048" y="3511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A0C0"/>
                </a:solidFill>
              </a:rPr>
              <a:t>Save $2,897/mo by bundling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" y="3968496"/>
            <a:ext cx="4133088" cy="402336"/>
          </a:xfrm>
          <a:prstGeom prst="rect">
            <a:avLst/>
          </a:prstGeom>
          <a:solidFill>
            <a:srgbClr val="EEF2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+ Recommended ad spend: $5,500–$8,000/mo paid directly to Google &amp; Meta — not to SMB Team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07899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5F46"/>
                </a:solidFill>
              </a:rPr>
              <a:t>PROJECTED RETURN ON AD SPEND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Average case value: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</a:rPr>
              <a:t>$4,500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Conservative  (7 cases/mo):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$31,500 revenue · 5.7× ROAS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Aggressive  (12 cases/mo):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$54,000 revenue · 6.75× ROAS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1F3C"/>
                </a:solidFill>
              </a:rPr>
              <a:t>WHAT HAPPENS IN THE FIRST 90 DAYS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8304" y="2980944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2724912"/>
            <a:ext cx="256032" cy="25603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</a:rPr>
              <a:t>Day 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website live — practice areas, bilingual content &amp; contact forms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18304" y="3337560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3081528"/>
            <a:ext cx="256032" cy="25603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</a:rPr>
              <a:t>Day 14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Google Ads, LSA &amp; Spanish Meta campaigns launched — leads flowing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3694176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90288" y="3438144"/>
            <a:ext cx="256032" cy="25603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4472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</a:rPr>
              <a:t>Week 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15584" y="34472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24/7 bilingual intake activated · Review generation system 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18304" y="4050792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90288" y="3794760"/>
            <a:ext cx="256032" cy="25603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</a:rPr>
              <a:t>Week 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KPI scorecards built · Patricia empowered to run day-to-day ops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90288" y="4151376"/>
            <a:ext cx="256032" cy="25603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</a:rPr>
              <a:t>Month 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Financial dashboard live · pipeline on track toward $150K/month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0"/>
                </a:solidFill>
              </a:rPr>
              <a:t>"You built $1M in revenue from referrals alone -- that's evidence of real skill and community trust. The system to turn that into $1.8M and your time back is what this plan builds."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59" name="Image 0" descr="/home/claude/imgs/sm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1490472" y="4855464"/>
            <a:ext cx="0" cy="182880"/>
          </a:xfrm>
          <a:prstGeom prst="line">
            <a:avLst/>
          </a:prstGeom>
          <a:noFill/>
          <a:ln w="12700">
            <a:solidFill>
              <a:srgbClr val="334D6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609344" y="48326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A9A"/>
                </a:solidFill>
              </a:rPr>
              <a:t>CONFIDENTIAL  ·  Prepared by Randy Gold | SMB Team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8138160" y="48326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A"/>
                </a:solidFill>
              </a:rPr>
              <a:t>3 /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Blancarte Law — Law Firm Growth Plan</dc:title>
  <dc:subject>PptxGenJS Presentation</dc:subject>
  <dc:creator>PptxGenJS</dc:creator>
  <cp:lastModifiedBy>PptxGenJS</cp:lastModifiedBy>
  <cp:revision>1</cp:revision>
  <dcterms:created xsi:type="dcterms:W3CDTF">2026-05-01T17:01:50Z</dcterms:created>
  <dcterms:modified xsi:type="dcterms:W3CDTF">2026-05-01T17:01:50Z</dcterms:modified>
</cp:coreProperties>
</file>